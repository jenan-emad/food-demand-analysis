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شكلة" id="{59b145e0-a6fa-9759-fcad-4fc0873e8885}">
          <p14:sldIdLst>
            <p14:sldId id="257"/>
          </p14:sldIdLst>
        </p14:section>
        <p14:section name="البيانات" id="{bfe88540-e306-3620-839c-3f1651c207bc}">
          <p14:sldIdLst>
            <p14:sldId id="258"/>
          </p14:sldIdLst>
        </p14:section>
        <p14:section name="أهم النتائج" id="{53d4a322-4353-2b15-4f46-6a6206452b00}">
          <p14:sldIdLst>
            <p14:sldId id="259"/>
            <p14:sldId id="260"/>
          </p14:sldIdLst>
        </p14:section>
        <p14:section name="التوصيات والحدود" id="{095495a9-27b0-279e-78fb-92f71f77ab67}">
          <p14:sldIdLst>
            <p14:sldId id="261"/>
            <p14:sldId id="262"/>
          </p14:sldIdLst>
        </p14:section>
        <p14:section name="استخدام الذكاء الاصطناعي" id="{4e0ab63d-a13f-597f-e2f4-e2c495c5ba0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 العرض: التحليل مبني على سجل الطلبات الأسبوعية لمراكز التنفيذ، ويهدف إلى دعم التنبؤ والمراجعة التشغيلية.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المشكلة: التخطيط يعتمد على الخبرة. نستخدم تاريخ الطلبات لوصف الطلب وتحديد الأعلى حجمًا وفحص الأسعار والعروض، دون ادعاء السببية.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جودة البيانات جيدة من حيث الاكتمال والتكرار، لكن لها حدود في التفسير: لا تواريخ تقويمية، والبيانات تقيس الطلبات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الطلب لا يثبت عند متوسط واحد: أعلى أسبوع 1,303,457 وأدنى أسبوع 380,065، أي نحو 3.4 أضعاف.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فئات فقط تمثل 66.07% من الطلبات. المشروبات وحدها 33.86%.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 خطوات عملية: تجربة تجريبية، أولوية للأعلى طلبًا، خط أساس وخطأ مقبول، وتجربة مضبوطة للعروض.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حدود: غياب بيانات المخزون والهدر، غياب التواريخ، الطبيعة الرصدية للنتائج، وحدود دقة النموذج.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دوري: كتابة prompts جيدة واتخاذ القرارات. دور الـ agent: توليد كود الـ notebooks، فحص مشكلات البيانات، إنشاء الـ skills، وتوليد تنبؤات linear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1371600"/>
            <a:ext cx="5971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المهمة 6: العرض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2926080" y="2057400"/>
            <a:ext cx="8714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تحليل الطلب على الوجبات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338328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من بيانات الطلبات الأسبوعية إلى قرارات تشغيلية أفضل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31352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Food Demand Analysis</a:t>
            </a:r>
            <a:endParaRPr lang="en-US" sz="1600" dirty="0"/>
          </a:p>
        </p:txBody>
      </p:sp>
      <p:sp>
        <p:nvSpPr>
          <p:cNvPr id="6" name="stat-card"/>
          <p:cNvSpPr/>
          <p:nvPr/>
        </p:nvSpPr>
        <p:spPr>
          <a:xfrm>
            <a:off x="548640" y="1920240"/>
            <a:ext cx="2103120" cy="2103120"/>
          </a:xfrm>
          <a:prstGeom prst="roundRect">
            <a:avLst>
              <a:gd name="adj" fmla="val 65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824,534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متوسط الطلبات في الأسبوع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المشكلة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تخطط مراكز التنفيذ إمدادات الوجبات اعتمادًا على الخبرة إلى حد كبير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8165592" y="2423160"/>
            <a:ext cx="34747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10634472" y="2651760"/>
            <a:ext cx="731520" cy="7315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4667" y="28419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39912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وصف تغيّر الطلب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39912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قراءة سجل الطلبات الأسبوعية لمعرفة كيف يتغير الطلب عبر الأسابيع.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57116" y="2423160"/>
            <a:ext cx="34747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6825996" y="2651760"/>
            <a:ext cx="731520" cy="7315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191" y="28419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1436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تحديد الأعلى حجمًا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31436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اكتشاف الوجبات والمراكز التي تحمل النصيب الأكبر من الطلبات.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2423160"/>
            <a:ext cx="34747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-circle"/>
          <p:cNvSpPr/>
          <p:nvPr/>
        </p:nvSpPr>
        <p:spPr>
          <a:xfrm>
            <a:off x="3017520" y="2651760"/>
            <a:ext cx="731520" cy="7315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715" y="28419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فحص الأسعار والعروض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دراسة كيف ترتبط الأسعار والعروض الترويجية الملحوظة بعدد الطلبات.</a:t>
            </a:r>
            <a:endParaRPr lang="en-US" sz="1500" dirty="0"/>
          </a:p>
        </p:txBody>
      </p:sp>
      <p:sp>
        <p:nvSpPr>
          <p:cNvPr id="19" name="goal-bar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525780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الهدف: دعم تنبؤ ومراجعة تشغيلية أفضل، وليس ادعاء علاقة سببية من بيانات رصدية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البيانات وجودتها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9034272" y="146304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34272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456,548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034272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سجلًّا في مجموعة التحليل</a:t>
            </a:r>
            <a:endParaRPr lang="en-US" sz="1600" dirty="0"/>
          </a:p>
        </p:txBody>
      </p:sp>
      <p:sp>
        <p:nvSpPr>
          <p:cNvPr id="6" name="stat-card"/>
          <p:cNvSpPr/>
          <p:nvPr/>
        </p:nvSpPr>
        <p:spPr>
          <a:xfrm>
            <a:off x="6206033" y="146304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06033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145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206033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أسبوعًا</a:t>
            </a:r>
            <a:endParaRPr lang="en-US" sz="1600" dirty="0"/>
          </a:p>
        </p:txBody>
      </p:sp>
      <p:sp>
        <p:nvSpPr>
          <p:cNvPr id="9" name="stat-card"/>
          <p:cNvSpPr/>
          <p:nvPr/>
        </p:nvSpPr>
        <p:spPr>
          <a:xfrm>
            <a:off x="3377794" y="146304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7794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77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377794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مركزًا</a:t>
            </a:r>
            <a:endParaRPr lang="en-US" sz="1600" dirty="0"/>
          </a:p>
        </p:txBody>
      </p:sp>
      <p:sp>
        <p:nvSpPr>
          <p:cNvPr id="12" name="stat-card"/>
          <p:cNvSpPr/>
          <p:nvPr/>
        </p:nvSpPr>
        <p:spPr>
          <a:xfrm>
            <a:off x="549554" y="146304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9554" y="15727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51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49554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وجبة</a:t>
            </a:r>
            <a:endParaRPr lang="en-US" sz="1600" dirty="0"/>
          </a:p>
        </p:txBody>
      </p:sp>
      <p:sp>
        <p:nvSpPr>
          <p:cNvPr id="15" name="panel"/>
          <p:cNvSpPr/>
          <p:nvPr/>
        </p:nvSpPr>
        <p:spPr>
          <a:xfrm>
            <a:off x="6199632" y="3063240"/>
            <a:ext cx="544068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9050">
            <a:solidFill>
              <a:srgbClr val="5FA8A0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2" y="324612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73952" y="3246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ما فحصناه وما وجدناه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73952" y="379476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لا خلايا مفقودة ولا صفوف مكررة في مخرجات الدفتر المحفوظة</a:t>
            </a:r>
            <a:endParaRPr lang="en-US" sz="17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دمج بيانات التدريب والوجبات والمراكز في ملف مُعدّ واحد</a:t>
            </a:r>
            <a:endParaRPr lang="en-US" sz="17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بقيت ملفات المصدر الأصلية دون أي تعديل</a:t>
            </a:r>
            <a:endParaRPr lang="en-US" sz="17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456,548 سجلًا للتدريب و32,573 سجلًا للاختبار</a:t>
            </a:r>
            <a:endParaRPr lang="en-US" sz="1700" dirty="0"/>
          </a:p>
        </p:txBody>
      </p:sp>
      <p:sp>
        <p:nvSpPr>
          <p:cNvPr id="19" name="panel"/>
          <p:cNvSpPr/>
          <p:nvPr/>
        </p:nvSpPr>
        <p:spPr>
          <a:xfrm>
            <a:off x="548640" y="3063240"/>
            <a:ext cx="544068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9050">
            <a:solidFill>
              <a:srgbClr val="E8684A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2461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22960" y="3246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ما يجب الانتباه إليه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" y="379476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قيم num_orders بين 13 و24,299 للسجل؛ المتوسط 261.87 والوسيط 136</a:t>
            </a:r>
            <a:endParaRPr lang="en-US" sz="17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الأسبوع رقم فقط وليس تاريخًا تقويميًا</a:t>
            </a:r>
            <a:endParaRPr lang="en-US" sz="17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البيانات تسجّل الطلبات لا المخزون ولا الهدر ولا نفاد المخزون</a:t>
            </a:r>
            <a:endParaRPr lang="en-US" sz="17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سجل center-meal-week لا يساوي إجمالي طلبات الشركة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النتيجة 1: الطلب يتباين كثيرًا من أسبوع لآخر</a:t>
            </a:r>
            <a:endParaRPr lang="en-US" sz="3200" dirty="0"/>
          </a:p>
        </p:txBody>
      </p:sp>
      <p:pic>
        <p:nvPicPr>
          <p:cNvPr id="3" name="weekly-demand-chart" descr="Line chart of total weekly orders across 145 weeks, with a peak in week 48 and a low in week 6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إجماليات أسبوعية مجمّعة؛ أرقام الأسابيع ليست تواريخ تقويمية</a:t>
            </a:r>
            <a:endParaRPr lang="en-US" sz="1300" dirty="0"/>
          </a:p>
        </p:txBody>
      </p:sp>
      <p:sp>
        <p:nvSpPr>
          <p:cNvPr id="5" name="stat-card"/>
          <p:cNvSpPr/>
          <p:nvPr/>
        </p:nvSpPr>
        <p:spPr>
          <a:xfrm>
            <a:off x="7589520" y="1554480"/>
            <a:ext cx="4050792" cy="1051560"/>
          </a:xfrm>
          <a:prstGeom prst="roundRect">
            <a:avLst>
              <a:gd name="adj" fmla="val 10435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64592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824,534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متوسط الطلبات الأسبوعية</a:t>
            </a:r>
            <a:endParaRPr lang="en-US" sz="1500" dirty="0"/>
          </a:p>
        </p:txBody>
      </p:sp>
      <p:sp>
        <p:nvSpPr>
          <p:cNvPr id="8" name="stat-card"/>
          <p:cNvSpPr/>
          <p:nvPr/>
        </p:nvSpPr>
        <p:spPr>
          <a:xfrm>
            <a:off x="7589520" y="2788920"/>
            <a:ext cx="4050792" cy="1051560"/>
          </a:xfrm>
          <a:prstGeom prst="roundRect">
            <a:avLst>
              <a:gd name="adj" fmla="val 10435"/>
            </a:avLst>
          </a:prstGeom>
          <a:solidFill>
            <a:srgbClr val="E8684A"/>
          </a:solidFill>
          <a:ln w="12700">
            <a:solidFill>
              <a:srgbClr val="E868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288036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1,303,457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42900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أعلى إجمالي أسبوعي (الأسبوع 48)</a:t>
            </a:r>
            <a:endParaRPr lang="en-US" sz="1500" dirty="0"/>
          </a:p>
        </p:txBody>
      </p:sp>
      <p:sp>
        <p:nvSpPr>
          <p:cNvPr id="11" name="stat-card"/>
          <p:cNvSpPr/>
          <p:nvPr/>
        </p:nvSpPr>
        <p:spPr>
          <a:xfrm>
            <a:off x="7589520" y="4023360"/>
            <a:ext cx="4050792" cy="1051560"/>
          </a:xfrm>
          <a:prstGeom prst="roundRect">
            <a:avLst>
              <a:gd name="adj" fmla="val 10435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411480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380,065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466344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أدنى إجمالي أسبوعي (الأسبوع 62)</a:t>
            </a:r>
            <a:endParaRPr lang="en-US" sz="1500" dirty="0"/>
          </a:p>
        </p:txBody>
      </p:sp>
      <p:sp>
        <p:nvSpPr>
          <p:cNvPr id="14" name="takeaway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5532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الأسبوع الأعلى يزيد على الأسبوع الأدنى بنحو 3.4 أضعاف؛ ولا يمكن ربط النمط بموسم أو عطلة لغياب التواريخ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النتيجة 2: الطلبات متركزة في عدد قليل من الفئات</a:t>
            </a:r>
            <a:endParaRPr lang="en-US" sz="3200" dirty="0"/>
          </a:p>
        </p:txBody>
      </p:sp>
      <p:pic>
        <p:nvPicPr>
          <p:cNvPr id="3" name="meal-categories-chart" descr="Bar chart of the five most-ordered meal categories, led by Bever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أعداد تاريخية تراكمية وليست ضمانًا للطلب المستقبلي</a:t>
            </a:r>
            <a:endParaRPr lang="en-US" sz="1300" dirty="0"/>
          </a:p>
        </p:txBody>
      </p:sp>
      <p:sp>
        <p:nvSpPr>
          <p:cNvPr id="5" name="big-stat"/>
          <p:cNvSpPr/>
          <p:nvPr/>
        </p:nvSpPr>
        <p:spPr>
          <a:xfrm>
            <a:off x="7589520" y="1554480"/>
            <a:ext cx="405079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645920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66.07%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56032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من الطلبات في أكبر ثلاث فئات: Beverages وRice Bowl وSandwich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3703320"/>
            <a:ext cx="4050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المشروبات (Beverages) وحدها: 33.86% من الطلبات</a:t>
            </a:r>
            <a:endParaRPr lang="en-US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أكبر وجبة: رقم 2290 (Indian Rice Bowl) بنسبة 8.17%</a:t>
            </a:r>
            <a:endParaRPr lang="en-US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أكبر حصة مطبخ: Italian بنسبة 36.95%</a:t>
            </a:r>
            <a:endParaRPr lang="en-US" sz="1600" dirty="0"/>
          </a:p>
        </p:txBody>
      </p:sp>
      <p:sp>
        <p:nvSpPr>
          <p:cNvPr id="9" name="takeaway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532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التركيز على الفئات والوجبات الأعلى طلبًا يغطي الجزء الأكبر من الحجم التشغيلي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التوصيات</a:t>
            </a:r>
            <a:endParaRPr lang="en-US" sz="3200" dirty="0"/>
          </a:p>
        </p:txBody>
      </p:sp>
      <p:sp>
        <p:nvSpPr>
          <p:cNvPr id="3" name="rec-row"/>
          <p:cNvSpPr/>
          <p:nvPr/>
        </p:nvSpPr>
        <p:spPr>
          <a:xfrm>
            <a:off x="548640" y="146304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-circle"/>
          <p:cNvSpPr/>
          <p:nvPr/>
        </p:nvSpPr>
        <p:spPr>
          <a:xfrm>
            <a:off x="10725912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591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جرّب التنبؤات على نطاق محدود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299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ابدأ بتجربة تجريبية على مستوى center-meal، وقارن كل تنبؤ بالطلبات الفعلية قبل استخدامه لتعديل الإمدادات.</a:t>
            </a:r>
            <a:endParaRPr lang="en-US" sz="1500" dirty="0"/>
          </a:p>
        </p:txBody>
      </p:sp>
      <p:sp>
        <p:nvSpPr>
          <p:cNvPr id="8" name="rec-row"/>
          <p:cNvSpPr/>
          <p:nvPr/>
        </p:nvSpPr>
        <p:spPr>
          <a:xfrm>
            <a:off x="548640" y="269748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-circle"/>
          <p:cNvSpPr/>
          <p:nvPr/>
        </p:nvSpPr>
        <p:spPr>
          <a:xfrm>
            <a:off x="10725912" y="2880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25912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ركّز مراجعات التوافر على الأعلى طلبًا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64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أعطِ الأولوية للفئات والوجبات الأعلى طلبًا، مع فحص سجلات المخزون والهدر بصورة منفصلة.</a:t>
            </a:r>
            <a:endParaRPr lang="en-US" sz="1500" dirty="0"/>
          </a:p>
        </p:txBody>
      </p:sp>
      <p:sp>
        <p:nvSpPr>
          <p:cNvPr id="13" name="rec-row"/>
          <p:cNvSpPr/>
          <p:nvPr/>
        </p:nvSpPr>
        <p:spPr>
          <a:xfrm>
            <a:off x="548640" y="393192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-circle"/>
          <p:cNvSpPr/>
          <p:nvPr/>
        </p:nvSpPr>
        <p:spPr>
          <a:xfrm>
            <a:off x="10725912" y="4114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25912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069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حدّد الخطأ المقبول وقارن بخط أساس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988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عرّف الخطأ المقبول بحسب الاستخدام التشغيلي، ثم قارن النموذج بخط أساس (baseline) بسيط على نافذة التحقق نفسها.</a:t>
            </a:r>
            <a:endParaRPr lang="en-US" sz="1500" dirty="0"/>
          </a:p>
        </p:txBody>
      </p:sp>
      <p:sp>
        <p:nvSpPr>
          <p:cNvPr id="18" name="rec-row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ber-circle"/>
          <p:cNvSpPr/>
          <p:nvPr/>
        </p:nvSpPr>
        <p:spPr>
          <a:xfrm>
            <a:off x="10725912" y="5349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25912" y="5349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03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اختبر العروض والأسعار بتجربة مضبوطة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733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قيّم الترويج وتغييرات الأسعار بتجربة مضبوطة أو تصميم سببي أقوى قبل اعتبار الارتباطات زيادة متوقعة.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حدود التحليل</a:t>
            </a:r>
            <a:endParaRPr lang="en-US" sz="3200" dirty="0"/>
          </a:p>
        </p:txBody>
      </p:sp>
      <p:sp>
        <p:nvSpPr>
          <p:cNvPr id="3" name="limit-card"/>
          <p:cNvSpPr/>
          <p:nvPr/>
        </p:nvSpPr>
        <p:spPr>
          <a:xfrm>
            <a:off x="6199632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10680192" y="1737360"/>
            <a:ext cx="685800" cy="685800"/>
          </a:xfrm>
          <a:prstGeom prst="ellipse">
            <a:avLst/>
          </a:prstGeom>
          <a:solidFill>
            <a:srgbClr val="E8684A"/>
          </a:solidFill>
          <a:ln w="12700">
            <a:solidFill>
              <a:srgbClr val="E8684A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0" y="19156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73952" y="1737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لا مخزون ولا هدر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73952" y="2560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بيانات الطلبات لا تقيس المخزون أو الهدر أو نفاد المخزون؛ يلزم توفير سجلات تشغيلية منفصلة.</a:t>
            </a:r>
            <a:endParaRPr lang="en-US" sz="1500" dirty="0"/>
          </a:p>
        </p:txBody>
      </p:sp>
      <p:sp>
        <p:nvSpPr>
          <p:cNvPr id="8" name="limit-card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5029200" y="1737360"/>
            <a:ext cx="685800" cy="685800"/>
          </a:xfrm>
          <a:prstGeom prst="ellipse">
            <a:avLst/>
          </a:prstGeom>
          <a:solidFill>
            <a:srgbClr val="E8684A"/>
          </a:solidFill>
          <a:ln w="12700">
            <a:solidFill>
              <a:srgbClr val="E8684A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08" y="19156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737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لا تواريخ تقويمية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5603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الأسبوع رقم فقط، فلا يمكن تأكيد الموسمية أو العطلات أو الأحداث التقويمية.</a:t>
            </a:r>
            <a:endParaRPr lang="en-US" sz="1500" dirty="0"/>
          </a:p>
        </p:txBody>
      </p:sp>
      <p:sp>
        <p:nvSpPr>
          <p:cNvPr id="13" name="limit-card"/>
          <p:cNvSpPr/>
          <p:nvPr/>
        </p:nvSpPr>
        <p:spPr>
          <a:xfrm>
            <a:off x="6199632" y="38862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10680192" y="4160520"/>
            <a:ext cx="685800" cy="685800"/>
          </a:xfrm>
          <a:prstGeom prst="ellipse">
            <a:avLst/>
          </a:prstGeom>
          <a:solidFill>
            <a:srgbClr val="E8684A"/>
          </a:solidFill>
          <a:ln w="12700">
            <a:solidFill>
              <a:srgbClr val="E8684A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43388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73952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ارتباطات لا أسباب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473952" y="4983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نتائج العروض والخصومات رصدية، واختبارات Mann–Whitney استكشافية لتكرار الأسابيع داخل الأزواج.</a:t>
            </a:r>
            <a:endParaRPr lang="en-US" sz="1500" dirty="0"/>
          </a:p>
        </p:txBody>
      </p:sp>
      <p:sp>
        <p:nvSpPr>
          <p:cNvPr id="18" name="limit-card"/>
          <p:cNvSpPr/>
          <p:nvPr/>
        </p:nvSpPr>
        <p:spPr>
          <a:xfrm>
            <a:off x="548640" y="38862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circle"/>
          <p:cNvSpPr/>
          <p:nvPr/>
        </p:nvSpPr>
        <p:spPr>
          <a:xfrm>
            <a:off x="5029200" y="4160520"/>
            <a:ext cx="685800" cy="685800"/>
          </a:xfrm>
          <a:prstGeom prst="ellipse">
            <a:avLst/>
          </a:prstGeom>
          <a:solidFill>
            <a:srgbClr val="E8684A"/>
          </a:solidFill>
          <a:ln w="12700">
            <a:solidFill>
              <a:srgbClr val="E8684A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508" y="433882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دقة النموذج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RMSE بقيمة 191.66 يقارب 73.2% من متوسط 261.87 للسجل، ومقاس على أسابيع التحقق من 136 إلى 145 لا على أسابيع الاختبار.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كيف استخدمتُ الذكاء الاصطناعي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المشروع مُولَّد في معظمه بواسطة Copilot agent</a:t>
            </a:r>
            <a:endParaRPr lang="en-US" sz="2400" dirty="0"/>
          </a:p>
        </p:txBody>
      </p:sp>
      <p:sp>
        <p:nvSpPr>
          <p:cNvPr id="4" name="ai-card"/>
          <p:cNvSpPr/>
          <p:nvPr/>
        </p:nvSpPr>
        <p:spPr>
          <a:xfrm>
            <a:off x="6611112" y="2331720"/>
            <a:ext cx="50292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10634472" y="2560320"/>
            <a:ext cx="731520" cy="7315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4667" y="27505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85432" y="2560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دوري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85432" y="352044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كتابة prompts جيدة وواضحة</a:t>
            </a:r>
            <a:endParaRPr lang="en-US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اتخاذ القرارات في المشروع</a:t>
            </a:r>
            <a:endParaRPr lang="en-US" sz="1600" dirty="0"/>
          </a:p>
        </p:txBody>
      </p:sp>
      <p:sp>
        <p:nvSpPr>
          <p:cNvPr id="9" name="ai-card"/>
          <p:cNvSpPr/>
          <p:nvPr/>
        </p:nvSpPr>
        <p:spPr>
          <a:xfrm>
            <a:off x="548640" y="2331720"/>
            <a:ext cx="50292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4572000" y="2560320"/>
            <a:ext cx="731520" cy="731520"/>
          </a:xfrm>
          <a:prstGeom prst="ellipse">
            <a:avLst/>
          </a:prstGeom>
          <a:solidFill>
            <a:srgbClr val="E8684A"/>
          </a:solidFill>
          <a:ln w="12700">
            <a:solidFill>
              <a:srgbClr val="E8684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27505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2560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دور الـ agent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52044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توليد كود الـ notebooks</a:t>
            </a:r>
            <a:endParaRPr lang="en-US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فحص مشكلات البيانات</a:t>
            </a:r>
            <a:endParaRPr lang="en-US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إنشاء الـ skills</a:t>
            </a:r>
            <a:endParaRPr lang="en-US" sz="16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توليد تنبؤات linear regression</a:t>
            </a:r>
            <a:endParaRPr lang="en-US" sz="1600" dirty="0"/>
          </a:p>
        </p:txBody>
      </p:sp>
      <p:pic>
        <p:nvPicPr>
          <p:cNvPr id="14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520440"/>
            <a:ext cx="667512" cy="667512"/>
          </a:xfrm>
          <a:prstGeom prst="rect">
            <a:avLst/>
          </a:prstGeom>
        </p:spPr>
      </p:pic>
      <p:sp>
        <p:nvSpPr>
          <p:cNvPr id="15" name="ai-takeaway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54406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القرارات لي، والـ agent ينفّذ ويولّد الكود، فيوفّر عليّ الوقت والجهد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Demand">
  <a:themeElements>
    <a:clrScheme name="Food Demand">
      <a:dk1>
        <a:srgbClr val="1B2A2F"/>
      </a:dk1>
      <a:lt1>
        <a:srgbClr val="FFFFFF"/>
      </a:lt1>
      <a:dk2>
        <a:srgbClr val="12343B"/>
      </a:dk2>
      <a:lt2>
        <a:srgbClr val="EEF3F4"/>
      </a:lt2>
      <a:accent1>
        <a:srgbClr val="E8684A"/>
      </a:accent1>
      <a:accent2>
        <a:srgbClr val="2E86AB"/>
      </a:accent2>
      <a:accent3>
        <a:srgbClr val="F2B84B"/>
      </a:accent3>
      <a:accent4>
        <a:srgbClr val="5FA8A0"/>
      </a:accent4>
      <a:accent5>
        <a:srgbClr val="6B8088"/>
      </a:accent5>
      <a:accent6>
        <a:srgbClr val="C9543A"/>
      </a:accent6>
      <a:hlink>
        <a:srgbClr val="2E86AB"/>
      </a:hlink>
      <a:folHlink>
        <a:srgbClr val="6B8088"/>
      </a:folHlink>
    </a:clrScheme>
    <a:fontScheme name="Food Dem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تحليل الطلب على الوجبات - العرض</dc:title>
  <dc:subject>PptxGenJS Presentation</dc:subject>
  <dc:creator>PptxGenJS</dc:creator>
  <cp:lastModifiedBy>PptxGenJS</cp:lastModifiedBy>
  <cp:revision>1</cp:revision>
  <dcterms:created xsi:type="dcterms:W3CDTF">2026-10-26T06:41:21Z</dcterms:created>
  <dcterms:modified xsi:type="dcterms:W3CDTF">2026-10-26T06:41:21Z</dcterms:modified>
</cp:coreProperties>
</file>